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438912"/>
            <a:ext cx="128016" cy="128016"/>
          </a:xfrm>
          <a:prstGeom prst="ellipse">
            <a:avLst/>
          </a:prstGeom>
          <a:solidFill>
            <a:srgbClr val="0077FB"/>
          </a:solidFill>
          <a:ln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474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Paytm Merchant Growth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347472"/>
            <a:ext cx="301752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PAYTM BUILD FOR INDIA • AI HACKATHON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7FB"/>
                </a:solidFill>
              </a:defRPr>
            </a:pPr>
            <a:r>
              <a:t>PAGE 01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63093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The AI Teammate That Runs Alongside Every Merchant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MERCHANT GROWTH AI TRACK</a:t>
            </a:r>
          </a:p>
          <a:p>
            <a:pPr>
              <a:defRPr sz="4600" b="1">
                <a:solidFill>
                  <a:srgbClr val="FFFFFF"/>
                </a:solidFill>
              </a:defRPr>
            </a:pPr>
            <a:r>
              <a:t>Paytm Merchant</a:t>
            </a:r>
            <a:br/>
            <a:r>
              <a:t>Growth Agent</a:t>
            </a:r>
          </a:p>
          <a:p>
            <a:pPr>
              <a:spcBef>
                <a:spcPts val="1400"/>
              </a:spcBef>
              <a:defRPr sz="1800">
                <a:solidFill>
                  <a:srgbClr val="94A3B8"/>
                </a:solidFill>
              </a:defRPr>
            </a:pPr>
            <a:r>
              <a:t>The AI Teammate That Runs Alongside Every Merchant.</a:t>
            </a:r>
          </a:p>
          <a:p>
            <a:pPr>
              <a:spcBef>
                <a:spcPts val="2000"/>
              </a:spcBef>
              <a:defRPr sz="1300" b="1">
                <a:solidFill>
                  <a:srgbClr val="60A5FA"/>
                </a:solidFill>
              </a:defRPr>
            </a:pPr>
            <a:r>
              <a:t>🚀 Value Proposition: Transforming Paytm from a payment platform into a merchant growth platform.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645920"/>
            <a:ext cx="3657600" cy="4114800"/>
          </a:xfrm>
          <a:prstGeom prst="roundRect">
            <a:avLst/>
          </a:prstGeom>
          <a:solidFill>
            <a:srgbClr val="182030"/>
          </a:solidFill>
          <a:ln w="19050"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🏪 THE MERCHANT GROWTH HUB</a:t>
            </a:r>
          </a:p>
          <a:p>
            <a:pPr>
              <a:spcBef>
                <a:spcPts val="1600"/>
              </a:spcBef>
              <a:defRPr sz="1300" b="1">
                <a:solidFill>
                  <a:srgbClr val="38BDF8"/>
                </a:solidFill>
              </a:defRPr>
            </a:pPr>
            <a:r>
              <a:t>• WhatsApp Layer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  Natural daily interaction &amp; voice check-ins</a:t>
            </a:r>
          </a:p>
          <a:p>
            <a:pPr>
              <a:spcBef>
                <a:spcPts val="1600"/>
              </a:spcBef>
              <a:defRPr sz="1300" b="1">
                <a:solidFill>
                  <a:srgbClr val="38BDF8"/>
                </a:solidFill>
              </a:defRPr>
            </a:pPr>
            <a:r>
              <a:t>• Paytm QR &amp; Soundbox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  Real-time payment signals &amp; footfall curves</a:t>
            </a:r>
          </a:p>
          <a:p>
            <a:pPr>
              <a:spcBef>
                <a:spcPts val="1600"/>
              </a:spcBef>
              <a:defRPr sz="1300" b="1">
                <a:solidFill>
                  <a:srgbClr val="38BDF8"/>
                </a:solidFill>
              </a:defRPr>
            </a:pPr>
            <a:r>
              <a:t>• Autonomous AI Agent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  Continuous observation, forecasting &amp;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438912"/>
            <a:ext cx="128016" cy="128016"/>
          </a:xfrm>
          <a:prstGeom prst="ellipse">
            <a:avLst/>
          </a:prstGeom>
          <a:solidFill>
            <a:srgbClr val="0077FB"/>
          </a:solidFill>
          <a:ln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474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Paytm Merchant Growth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347472"/>
            <a:ext cx="3017520" cy="320040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77FB"/>
                </a:solidFill>
              </a:defRPr>
            </a:pPr>
            <a:r>
              <a:t>PAYTM BUILD FOR INDIA • AI HACKATHON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7FB"/>
                </a:solidFill>
              </a:defRPr>
            </a:pPr>
            <a:r>
              <a:t>PAGE 02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63093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The AI Teammate That Runs Alongside Every Merchant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686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77FB"/>
                </a:solidFill>
              </a:defRPr>
            </a:pPr>
            <a:r>
              <a:t>●  THE CORE MERCHANT DILEMMA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430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Merchants Generate Data Every Day.</a:t>
            </a:r>
            <a:br/>
            <a:r>
              <a:t>But They Don't Get Decisions.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77440"/>
            <a:ext cx="347472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77FB"/>
                </a:solidFill>
              </a:defRPr>
            </a:pPr>
            <a:r>
              <a:t>SALES DROP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Why did sales drop yesterday?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377440"/>
            <a:ext cx="347472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INVENTORY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What inventory should I buy tomorrow?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20440"/>
            <a:ext cx="347472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F4444"/>
                </a:solidFill>
              </a:defRPr>
            </a:pPr>
            <a:r>
              <a:t>STOCKOUTS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Which products are running out?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520440"/>
            <a:ext cx="347472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8B5CF6"/>
                </a:solidFill>
              </a:defRPr>
            </a:pPr>
            <a:r>
              <a:t>CHURN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Which customers stopped returning?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663440"/>
            <a:ext cx="347472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C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C48C"/>
                </a:solidFill>
              </a:defRPr>
            </a:pPr>
            <a:r>
              <a:t>DEMAND SURGE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When will peak customer demand surge?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4663440"/>
            <a:ext cx="347472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2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2970"/>
                </a:solidFill>
              </a:defRPr>
            </a:pPr>
            <a:r>
              <a:t>PROFIT GROWTH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How do I grow my business profits?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377440"/>
            <a:ext cx="3200400" cy="3291840"/>
          </a:xfrm>
          <a:prstGeom prst="roundRect">
            <a:avLst/>
          </a:prstGeom>
          <a:solidFill>
            <a:srgbClr val="E8F2FF"/>
          </a:solidFill>
          <a:ln w="19050"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77FB"/>
                </a:solidFill>
              </a:defRPr>
            </a:pPr>
            <a:r>
              <a:t>💡 KEY INSIGHT</a:t>
            </a:r>
          </a:p>
          <a:p>
            <a:pPr>
              <a:spcBef>
                <a:spcPts val="2000"/>
              </a:spcBef>
              <a:defRPr sz="1400" b="1">
                <a:solidFill>
                  <a:srgbClr val="002970"/>
                </a:solidFill>
              </a:defRPr>
            </a:pPr>
            <a:r>
              <a:t>India's merchants don't need more complex dashboards.</a:t>
            </a:r>
            <a:br/>
            <a:br/>
            <a:r>
              <a:t>They need a proactive business teammate who works directly in WhatsApp.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438912"/>
            <a:ext cx="128016" cy="128016"/>
          </a:xfrm>
          <a:prstGeom prst="ellipse">
            <a:avLst/>
          </a:prstGeom>
          <a:solidFill>
            <a:srgbClr val="0077FB"/>
          </a:solidFill>
          <a:ln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474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Paytm Merchant Growth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347472"/>
            <a:ext cx="3017520" cy="320040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77FB"/>
                </a:solidFill>
              </a:defRPr>
            </a:pPr>
            <a:r>
              <a:t>PAYTM BUILD FOR INDIA • AI HACKATHON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7FB"/>
                </a:solidFill>
              </a:defRPr>
            </a:pPr>
            <a:r>
              <a:t>PAGE 03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63093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The AI Teammate That Runs Alongside Every Merchant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686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77FB"/>
                </a:solidFill>
              </a:defRPr>
            </a:pPr>
            <a:r>
              <a:t>●  MARKET REALITY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430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What's Broken in Today's Market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94560"/>
            <a:ext cx="338328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0077FB"/>
                </a:solidFill>
              </a:defRPr>
            </a:pPr>
            <a:r>
              <a:t>01.</a:t>
            </a:r>
          </a:p>
          <a:p>
            <a:pPr>
              <a:spcBef>
                <a:spcPts val="800"/>
              </a:spcBef>
              <a:defRPr sz="1700" b="1">
                <a:solidFill>
                  <a:srgbClr val="0F172A"/>
                </a:solidFill>
              </a:defRPr>
            </a:pPr>
            <a:r>
              <a:t>No Business Intelligence</a:t>
            </a:r>
          </a:p>
          <a:p>
            <a:pPr>
              <a:spcBef>
                <a:spcPts val="800"/>
              </a:spcBef>
              <a:defRPr sz="1250">
                <a:solidFill>
                  <a:srgbClr val="64748B"/>
                </a:solidFill>
              </a:defRPr>
            </a:pPr>
            <a:r>
              <a:t>UPI data exists in payment backends, but zero intelligent insights reach the merchant. Raw numbers remain completely unused.</a:t>
            </a:r>
          </a:p>
          <a:p>
            <a:pPr>
              <a:spcBef>
                <a:spcPts val="2000"/>
              </a:spcBef>
              <a:defRPr sz="1100" b="1">
                <a:solidFill>
                  <a:srgbClr val="0077FB"/>
                </a:solidFill>
              </a:defRPr>
            </a:pPr>
            <a:r>
              <a:t>Status: Data generated, never synthesized.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194560"/>
            <a:ext cx="338328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F59E0B"/>
                </a:solidFill>
              </a:defRPr>
            </a:pPr>
            <a:r>
              <a:t>02.</a:t>
            </a:r>
          </a:p>
          <a:p>
            <a:pPr>
              <a:spcBef>
                <a:spcPts val="800"/>
              </a:spcBef>
              <a:defRPr sz="1700" b="1">
                <a:solidFill>
                  <a:srgbClr val="0F172A"/>
                </a:solidFill>
              </a:defRPr>
            </a:pPr>
            <a:r>
              <a:t>No Inventory Visibility</a:t>
            </a:r>
          </a:p>
          <a:p>
            <a:pPr>
              <a:spcBef>
                <a:spcPts val="800"/>
              </a:spcBef>
              <a:defRPr sz="1250">
                <a:solidFill>
                  <a:srgbClr val="64748B"/>
                </a:solidFill>
              </a:defRPr>
            </a:pPr>
            <a:r>
              <a:t>Merchants don't know what stock will run out tomorrow. They rely on guesswork until customers encounter empty shelves.</a:t>
            </a:r>
          </a:p>
          <a:p>
            <a:pPr>
              <a:spcBef>
                <a:spcPts val="2000"/>
              </a:spcBef>
              <a:defRPr sz="1100" b="1">
                <a:solidFill>
                  <a:srgbClr val="F59E0B"/>
                </a:solidFill>
              </a:defRPr>
            </a:pPr>
            <a:r>
              <a:t>Status: Chronic stockouts &amp; lost margin.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194560"/>
            <a:ext cx="338328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EF4444"/>
                </a:solidFill>
              </a:defRPr>
            </a:pPr>
            <a:r>
              <a:t>03.</a:t>
            </a:r>
          </a:p>
          <a:p>
            <a:pPr>
              <a:spcBef>
                <a:spcPts val="800"/>
              </a:spcBef>
              <a:defRPr sz="1700" b="1">
                <a:solidFill>
                  <a:srgbClr val="0F172A"/>
                </a:solidFill>
              </a:defRPr>
            </a:pPr>
            <a:r>
              <a:t>No Actionable Recommendations</a:t>
            </a:r>
          </a:p>
          <a:p>
            <a:pPr>
              <a:spcBef>
                <a:spcPts val="800"/>
              </a:spcBef>
              <a:defRPr sz="1250">
                <a:solidFill>
                  <a:srgbClr val="64748B"/>
                </a:solidFill>
              </a:defRPr>
            </a:pPr>
            <a:r>
              <a:t>Dashboards only display backward-looking charts. Data exists, insights don't, and real growth action never happens.</a:t>
            </a:r>
          </a:p>
          <a:p>
            <a:pPr>
              <a:spcBef>
                <a:spcPts val="2000"/>
              </a:spcBef>
              <a:defRPr sz="1100" b="1">
                <a:solidFill>
                  <a:srgbClr val="EF4444"/>
                </a:solidFill>
              </a:defRPr>
            </a:pPr>
            <a:r>
              <a:t>Status: Inaction &amp; stagnation.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438912"/>
            <a:ext cx="128016" cy="128016"/>
          </a:xfrm>
          <a:prstGeom prst="ellipse">
            <a:avLst/>
          </a:prstGeom>
          <a:solidFill>
            <a:srgbClr val="0077FB"/>
          </a:solidFill>
          <a:ln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474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Paytm Merchant Growth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347472"/>
            <a:ext cx="3017520" cy="320040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77FB"/>
                </a:solidFill>
              </a:defRPr>
            </a:pPr>
            <a:r>
              <a:t>PAYTM BUILD FOR INDIA • AI HACKATHON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7FB"/>
                </a:solidFill>
              </a:defRPr>
            </a:pPr>
            <a:r>
              <a:t>PAGE 04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63093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The AI Teammate That Runs Alongside Every Merchant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686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77FB"/>
                </a:solidFill>
              </a:defRPr>
            </a:pPr>
            <a:r>
              <a:t>●  PAYTM STRATEGIC MOAT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430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Paytm Already Sees Merchant Transactions.</a:t>
            </a:r>
            <a:br/>
            <a:r>
              <a:t>The Missing Layer is AI.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77440"/>
            <a:ext cx="251460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77FB"/>
                </a:solidFill>
              </a:defRPr>
            </a:pPr>
            <a:r>
              <a:t>STEP 01</a:t>
            </a:r>
          </a:p>
          <a:p>
            <a:pPr>
              <a:spcBef>
                <a:spcPts val="1000"/>
              </a:spcBef>
              <a:defRPr sz="1600" b="1">
                <a:solidFill>
                  <a:srgbClr val="0F172A"/>
                </a:solidFill>
              </a:defRPr>
            </a:pPr>
            <a:r>
              <a:t>Paytm QR &amp; Soundbox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Daily payment touchpoint at 30M+ merchant counters across India.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377440"/>
            <a:ext cx="251460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77FB"/>
                </a:solidFill>
              </a:defRPr>
            </a:pPr>
            <a:r>
              <a:t>STEP 02</a:t>
            </a:r>
          </a:p>
          <a:p>
            <a:pPr>
              <a:spcBef>
                <a:spcPts val="1000"/>
              </a:spcBef>
              <a:defRPr sz="1600" b="1">
                <a:solidFill>
                  <a:srgbClr val="0F172A"/>
                </a:solidFill>
              </a:defRPr>
            </a:pPr>
            <a:r>
              <a:t>UPI Payments Data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Real-time stream of basket values, timestamps &amp; buyer frequency.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377440"/>
            <a:ext cx="251460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77FB"/>
                </a:solidFill>
              </a:defRPr>
            </a:pPr>
            <a:r>
              <a:t>STEP 03</a:t>
            </a:r>
          </a:p>
          <a:p>
            <a:pPr>
              <a:spcBef>
                <a:spcPts val="1000"/>
              </a:spcBef>
              <a:defRPr sz="1600" b="1">
                <a:solidFill>
                  <a:srgbClr val="0F172A"/>
                </a:solidFill>
              </a:defRPr>
            </a:pPr>
            <a:r>
              <a:t>Merchant Behavior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Unlocks seasonal cadence, peak velocity &amp; customer habits.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2377440"/>
            <a:ext cx="2514600" cy="3291840"/>
          </a:xfrm>
          <a:prstGeom prst="roundRect">
            <a:avLst/>
          </a:prstGeom>
          <a:solidFill>
            <a:srgbClr val="0077FB"/>
          </a:solidFill>
          <a:ln w="19050"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AE6FD"/>
                </a:solidFill>
              </a:defRPr>
            </a:pPr>
            <a:r>
              <a:t>AI LAYER</a:t>
            </a:r>
          </a:p>
          <a:p>
            <a:pPr>
              <a:spcBef>
                <a:spcPts val="1000"/>
              </a:spcBef>
              <a:defRPr sz="1600" b="1">
                <a:solidFill>
                  <a:srgbClr val="FFFFFF"/>
                </a:solidFill>
              </a:defRPr>
            </a:pPr>
            <a:r>
              <a:t>Autonomous Decisions</a:t>
            </a:r>
          </a:p>
          <a:p>
            <a:pPr>
              <a:spcBef>
                <a:spcPts val="1000"/>
              </a:spcBef>
              <a:defRPr sz="1200">
                <a:solidFill>
                  <a:srgbClr val="E0F2FE"/>
                </a:solidFill>
              </a:defRPr>
            </a:pPr>
            <a:r>
              <a:t>Proactive PO recommendations, smart promos &amp; growth execution.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438912"/>
            <a:ext cx="128016" cy="128016"/>
          </a:xfrm>
          <a:prstGeom prst="ellipse">
            <a:avLst/>
          </a:prstGeom>
          <a:solidFill>
            <a:srgbClr val="0077FB"/>
          </a:solidFill>
          <a:ln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474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Paytm Merchant Growth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347472"/>
            <a:ext cx="301752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PAYTM BUILD FOR INDIA • AI HACKATHON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7FB"/>
                </a:solidFill>
              </a:defRPr>
            </a:pPr>
            <a:r>
              <a:t>PAGE 05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63093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The AI Teammate That Runs Alongside Every Merchant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686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77FB"/>
                </a:solidFill>
              </a:defRPr>
            </a:pPr>
            <a:r>
              <a:t>●  THE BREAKTHROUGH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430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Introducing Paytm Merchant Growth Agent</a:t>
            </a:r>
            <a:br/>
            <a:r>
              <a:t>Observe → Understand → Predict → Recommend → Execute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Not another chatbot with a prompt box.</a:t>
            </a:r>
            <a:br/>
            <a:r>
              <a:t>A true autonomous business teammate.</a:t>
            </a:r>
          </a:p>
          <a:p>
            <a:pPr>
              <a:spcBef>
                <a:spcPts val="1600"/>
              </a:spcBef>
              <a:defRPr sz="1400">
                <a:solidFill>
                  <a:srgbClr val="CBD5E1"/>
                </a:solidFill>
              </a:defRPr>
            </a:pPr>
            <a:r>
              <a:t>✔  Zero user training required — operates via WhatsApp &amp; Voice</a:t>
            </a:r>
          </a:p>
          <a:p>
            <a:pPr>
              <a:spcBef>
                <a:spcPts val="1600"/>
              </a:spcBef>
              <a:defRPr sz="1400">
                <a:solidFill>
                  <a:srgbClr val="CBD5E1"/>
                </a:solidFill>
              </a:defRPr>
            </a:pPr>
            <a:r>
              <a:t>✔  Doesn't wait to be asked — proactively sends morning briefings</a:t>
            </a:r>
          </a:p>
          <a:p>
            <a:pPr>
              <a:spcBef>
                <a:spcPts val="1600"/>
              </a:spcBef>
              <a:defRPr sz="1400">
                <a:solidFill>
                  <a:srgbClr val="CBD5E1"/>
                </a:solidFill>
              </a:defRPr>
            </a:pPr>
            <a:r>
              <a:t>✔  Closed-loop execution — 1-click approvals for orders &amp; promos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2103120"/>
            <a:ext cx="4297680" cy="3840480"/>
          </a:xfrm>
          <a:prstGeom prst="roundRect">
            <a:avLst/>
          </a:prstGeom>
          <a:solidFill>
            <a:srgbClr val="182030"/>
          </a:solidFill>
          <a:ln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🤖 6 AUTONOMOUS PILLARS</a:t>
            </a:r>
          </a:p>
          <a:p>
            <a:pPr>
              <a:spcBef>
                <a:spcPts val="600"/>
              </a:spcBef>
              <a:defRPr sz="1150">
                <a:solidFill>
                  <a:srgbClr val="E2E8F0"/>
                </a:solidFill>
              </a:defRPr>
            </a:pPr>
            <a:r>
              <a:t>• Sales Diagnostics: Pinpoints exact drivers of daily dips or surges</a:t>
            </a:r>
          </a:p>
          <a:p>
            <a:pPr>
              <a:spcBef>
                <a:spcPts val="600"/>
              </a:spcBef>
              <a:defRPr sz="1150">
                <a:solidFill>
                  <a:srgbClr val="E2E8F0"/>
                </a:solidFill>
              </a:defRPr>
            </a:pPr>
            <a:r>
              <a:t>• Inventory Reorder: Calculates precise stock run-rates &amp; generates POs</a:t>
            </a:r>
          </a:p>
          <a:p>
            <a:pPr>
              <a:spcBef>
                <a:spcPts val="600"/>
              </a:spcBef>
              <a:defRPr sz="1150">
                <a:solidFill>
                  <a:srgbClr val="E2E8F0"/>
                </a:solidFill>
              </a:defRPr>
            </a:pPr>
            <a:r>
              <a:t>• Demand Forecast: Estimates peak footfall 24-48h in advance</a:t>
            </a:r>
          </a:p>
          <a:p>
            <a:pPr>
              <a:spcBef>
                <a:spcPts val="600"/>
              </a:spcBef>
              <a:defRPr sz="1150">
                <a:solidFill>
                  <a:srgbClr val="E2E8F0"/>
                </a:solidFill>
              </a:defRPr>
            </a:pPr>
            <a:r>
              <a:t>• Customer Retention: Flags lapsed patrons &amp; crafts WhatsApp offers</a:t>
            </a:r>
          </a:p>
          <a:p>
            <a:pPr>
              <a:spcBef>
                <a:spcPts val="600"/>
              </a:spcBef>
              <a:defRPr sz="1150">
                <a:solidFill>
                  <a:srgbClr val="E2E8F0"/>
                </a:solidFill>
              </a:defRPr>
            </a:pPr>
            <a:r>
              <a:t>• Growth Opportunities: Uncovers profitable product combos &amp; cross-sells</a:t>
            </a:r>
          </a:p>
          <a:p>
            <a:pPr>
              <a:spcBef>
                <a:spcPts val="600"/>
              </a:spcBef>
              <a:defRPr sz="1150">
                <a:solidFill>
                  <a:srgbClr val="E2E8F0"/>
                </a:solidFill>
              </a:defRPr>
            </a:pPr>
            <a:r>
              <a:t>• Automated Promos: Executes hyperlocal cashback campaigns in 1 click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438912"/>
            <a:ext cx="128016" cy="128016"/>
          </a:xfrm>
          <a:prstGeom prst="ellipse">
            <a:avLst/>
          </a:prstGeom>
          <a:solidFill>
            <a:srgbClr val="0077FB"/>
          </a:solidFill>
          <a:ln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474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Paytm Merchant Growth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347472"/>
            <a:ext cx="3017520" cy="320040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77FB"/>
                </a:solidFill>
              </a:defRPr>
            </a:pPr>
            <a:r>
              <a:t>PAYTM BUILD FOR INDIA • AI HACKATHON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7FB"/>
                </a:solidFill>
              </a:defRPr>
            </a:pPr>
            <a:r>
              <a:t>PAGE 06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63093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The AI Teammate That Runs Alongside Every Merchant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686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77FB"/>
                </a:solidFill>
              </a:defRPr>
            </a:pPr>
            <a:r>
              <a:t>●  END-TO-END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430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From Multimodal Inputs to Autonomous Growth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94560"/>
            <a:ext cx="338328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77FB"/>
                </a:solidFill>
              </a:defRPr>
            </a:pPr>
            <a:r>
              <a:t>TIER 1: INGESTION</a:t>
            </a:r>
          </a:p>
          <a:p>
            <a:pPr>
              <a:spcBef>
                <a:spcPts val="600"/>
              </a:spcBef>
              <a:defRPr sz="1600" b="1">
                <a:solidFill>
                  <a:srgbClr val="0F172A"/>
                </a:solidFill>
              </a:defRPr>
            </a:pPr>
            <a:r>
              <a:t>Merchant Data Sources</a:t>
            </a:r>
          </a:p>
          <a:p>
            <a:pPr>
              <a:spcBef>
                <a:spcPts val="1000"/>
              </a:spcBef>
              <a:defRPr sz="1150">
                <a:solidFill>
                  <a:srgbClr val="64748B"/>
                </a:solidFill>
              </a:defRPr>
            </a:pPr>
            <a:r>
              <a:t>✔ Paytm UPI Transactions</a:t>
            </a:r>
          </a:p>
          <a:p>
            <a:pPr>
              <a:spcBef>
                <a:spcPts val="1000"/>
              </a:spcBef>
              <a:defRPr sz="1150">
                <a:solidFill>
                  <a:srgbClr val="64748B"/>
                </a:solidFill>
              </a:defRPr>
            </a:pPr>
            <a:r>
              <a:t>✔ Ledger Photos (WhatsApp)</a:t>
            </a:r>
          </a:p>
          <a:p>
            <a:pPr>
              <a:spcBef>
                <a:spcPts val="1000"/>
              </a:spcBef>
              <a:defRPr sz="1150">
                <a:solidFill>
                  <a:srgbClr val="64748B"/>
                </a:solidFill>
              </a:defRPr>
            </a:pPr>
            <a:r>
              <a:t>✔ Supplier Invoices (OCR)</a:t>
            </a:r>
          </a:p>
          <a:p>
            <a:pPr>
              <a:spcBef>
                <a:spcPts val="1000"/>
              </a:spcBef>
              <a:defRPr sz="1150">
                <a:solidFill>
                  <a:srgbClr val="64748B"/>
                </a:solidFill>
              </a:defRPr>
            </a:pPr>
            <a:r>
              <a:t>✔ Shelf Snapshots (Vision)</a:t>
            </a:r>
          </a:p>
          <a:p>
            <a:pPr>
              <a:spcBef>
                <a:spcPts val="1000"/>
              </a:spcBef>
              <a:defRPr sz="1150">
                <a:solidFill>
                  <a:srgbClr val="64748B"/>
                </a:solidFill>
              </a:defRPr>
            </a:pPr>
            <a:r>
              <a:t>✔ Weather, Festivals &amp; IPL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194560"/>
            <a:ext cx="338328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2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2970"/>
                </a:solidFill>
              </a:defRPr>
            </a:pPr>
            <a:r>
              <a:t>TIER 2: REASONING</a:t>
            </a:r>
          </a:p>
          <a:p>
            <a:pPr>
              <a:spcBef>
                <a:spcPts val="600"/>
              </a:spcBef>
              <a:defRPr sz="1600" b="1">
                <a:solidFill>
                  <a:srgbClr val="0F172A"/>
                </a:solidFill>
              </a:defRPr>
            </a:pPr>
            <a:r>
              <a:t>AI Intelligence Engine</a:t>
            </a:r>
          </a:p>
          <a:p>
            <a:pPr>
              <a:spcBef>
                <a:spcPts val="1000"/>
              </a:spcBef>
              <a:defRPr sz="1150">
                <a:solidFill>
                  <a:srgbClr val="64748B"/>
                </a:solidFill>
              </a:defRPr>
            </a:pPr>
            <a:r>
              <a:t>✔ Multimodal Perception (YOLO+OCR)</a:t>
            </a:r>
          </a:p>
          <a:p>
            <a:pPr>
              <a:spcBef>
                <a:spcPts val="1000"/>
              </a:spcBef>
              <a:defRPr sz="1150">
                <a:solidFill>
                  <a:srgbClr val="64748B"/>
                </a:solidFill>
              </a:defRPr>
            </a:pPr>
            <a:r>
              <a:t>✔ Time-Series Demand Forecasts</a:t>
            </a:r>
          </a:p>
          <a:p>
            <a:pPr>
              <a:spcBef>
                <a:spcPts val="1000"/>
              </a:spcBef>
              <a:defRPr sz="1150">
                <a:solidFill>
                  <a:srgbClr val="64748B"/>
                </a:solidFill>
              </a:defRPr>
            </a:pPr>
            <a:r>
              <a:t>✔ LangGraph Multi-Agent Core</a:t>
            </a:r>
          </a:p>
          <a:p>
            <a:pPr>
              <a:spcBef>
                <a:spcPts val="1000"/>
              </a:spcBef>
              <a:defRPr sz="1150">
                <a:solidFill>
                  <a:srgbClr val="64748B"/>
                </a:solidFill>
              </a:defRPr>
            </a:pPr>
            <a:r>
              <a:t>✔ Merchant Health Scoring Engine</a:t>
            </a:r>
          </a:p>
          <a:p>
            <a:pPr>
              <a:spcBef>
                <a:spcPts val="1000"/>
              </a:spcBef>
              <a:defRPr sz="1150">
                <a:solidFill>
                  <a:srgbClr val="64748B"/>
                </a:solidFill>
              </a:defRPr>
            </a:pPr>
            <a:r>
              <a:t>✔ Anomaly &amp; Leakage Detectors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194560"/>
            <a:ext cx="338328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C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C48C"/>
                </a:solidFill>
              </a:defRPr>
            </a:pPr>
            <a:r>
              <a:t>TIER 3: OUTCOMES</a:t>
            </a:r>
          </a:p>
          <a:p>
            <a:pPr>
              <a:spcBef>
                <a:spcPts val="600"/>
              </a:spcBef>
              <a:defRPr sz="1600" b="1">
                <a:solidFill>
                  <a:srgbClr val="0F172A"/>
                </a:solidFill>
              </a:defRPr>
            </a:pPr>
            <a:r>
              <a:t>Growth Actions</a:t>
            </a:r>
          </a:p>
          <a:p>
            <a:pPr>
              <a:spcBef>
                <a:spcPts val="1000"/>
              </a:spcBef>
              <a:defRPr sz="1150">
                <a:solidFill>
                  <a:srgbClr val="64748B"/>
                </a:solidFill>
              </a:defRPr>
            </a:pPr>
            <a:r>
              <a:t>✔ Daily WhatsApp Briefing (8 AM)</a:t>
            </a:r>
          </a:p>
          <a:p>
            <a:pPr>
              <a:spcBef>
                <a:spcPts val="1000"/>
              </a:spcBef>
              <a:defRPr sz="1150">
                <a:solidFill>
                  <a:srgbClr val="64748B"/>
                </a:solidFill>
              </a:defRPr>
            </a:pPr>
            <a:r>
              <a:t>✔ Auto Supplier Purchase Orders</a:t>
            </a:r>
          </a:p>
          <a:p>
            <a:pPr>
              <a:spcBef>
                <a:spcPts val="1000"/>
              </a:spcBef>
              <a:defRPr sz="1150">
                <a:solidFill>
                  <a:srgbClr val="64748B"/>
                </a:solidFill>
              </a:defRPr>
            </a:pPr>
            <a:r>
              <a:t>✔ Targeted Cashback Promos</a:t>
            </a:r>
          </a:p>
          <a:p>
            <a:pPr>
              <a:spcBef>
                <a:spcPts val="1000"/>
              </a:spcBef>
              <a:defRPr sz="1150">
                <a:solidFill>
                  <a:srgbClr val="64748B"/>
                </a:solidFill>
              </a:defRPr>
            </a:pPr>
            <a:r>
              <a:t>✔ Vernacular AI Voice Alerts</a:t>
            </a:r>
          </a:p>
          <a:p>
            <a:pPr>
              <a:spcBef>
                <a:spcPts val="1000"/>
              </a:spcBef>
              <a:defRPr sz="1150">
                <a:solidFill>
                  <a:srgbClr val="64748B"/>
                </a:solidFill>
              </a:defRPr>
            </a:pPr>
            <a:r>
              <a:t>✔ Pre-approved Credit Scoring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438912"/>
            <a:ext cx="128016" cy="128016"/>
          </a:xfrm>
          <a:prstGeom prst="ellipse">
            <a:avLst/>
          </a:prstGeom>
          <a:solidFill>
            <a:srgbClr val="0077FB"/>
          </a:solidFill>
          <a:ln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474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Paytm Merchant Growth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347472"/>
            <a:ext cx="3017520" cy="320040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77FB"/>
                </a:solidFill>
              </a:defRPr>
            </a:pPr>
            <a:r>
              <a:t>PAYTM BUILD FOR INDIA • AI HACKATHON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7FB"/>
                </a:solidFill>
              </a:defRPr>
            </a:pPr>
            <a:r>
              <a:t>PAGE 07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63093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The AI Teammate That Runs Alongside Every Merchant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686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77FB"/>
                </a:solidFill>
              </a:defRPr>
            </a:pPr>
            <a:r>
              <a:t>●  MULTI-AGENT SWARM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430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7 Specialized Autonomous Agents Working in Sync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94560"/>
            <a:ext cx="25146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77FB"/>
                </a:solidFill>
              </a:defRPr>
            </a:pPr>
            <a:r>
              <a:t>01 • BI Agent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Analyzes revenue trends, anomalies &amp; margin shifts.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2194560"/>
            <a:ext cx="25146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77FB"/>
                </a:solidFill>
              </a:defRPr>
            </a:pPr>
            <a:r>
              <a:t>02 • Demand Forecast Agent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Predicts future item demand based on weather &amp; festivals.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194560"/>
            <a:ext cx="25146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77FB"/>
                </a:solidFill>
              </a:defRPr>
            </a:pPr>
            <a:r>
              <a:t>03 • Footfall Agent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Maps hourly customer arrival curves &amp; peak hours.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2194560"/>
            <a:ext cx="25146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77FB"/>
                </a:solidFill>
              </a:defRPr>
            </a:pPr>
            <a:r>
              <a:t>04 • Inventory Agent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Reconciles invoices + shelf photos to recommend POs.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1480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77FB"/>
                </a:solidFill>
              </a:defRPr>
            </a:pPr>
            <a:r>
              <a:t>05 • Retention Agent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Detects lapsed patrons &amp; triggers re-engagement offers.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411480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77FB"/>
                </a:solidFill>
              </a:defRPr>
            </a:pPr>
            <a:r>
              <a:t>06 • Growth Recommender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Uncovers daily upsell, combo &amp; margin opportunities.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411480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00C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C48C"/>
                </a:solidFill>
              </a:defRPr>
            </a:pPr>
            <a:r>
              <a:t>07 • Campaign Executor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Deploys merchant-approved cashback vouchers instantly.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438912"/>
            <a:ext cx="128016" cy="128016"/>
          </a:xfrm>
          <a:prstGeom prst="ellipse">
            <a:avLst/>
          </a:prstGeom>
          <a:solidFill>
            <a:srgbClr val="0077FB"/>
          </a:solidFill>
          <a:ln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474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Paytm Merchant Growth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347472"/>
            <a:ext cx="3017520" cy="320040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77FB"/>
                </a:solidFill>
              </a:defRPr>
            </a:pPr>
            <a:r>
              <a:t>PAYTM BUILD FOR INDIA • AI HACKATHON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7FB"/>
                </a:solidFill>
              </a:defRPr>
            </a:pPr>
            <a:r>
              <a:t>PAGE 08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63093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The AI Teammate That Runs Alongside Every Merchant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686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77FB"/>
                </a:solidFill>
              </a:defRPr>
            </a:pPr>
            <a:r>
              <a:t>●  CORE AI INNOVATION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430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Inventory Tracking Without Barcodes or Manual Entry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970"/>
                </a:solidFill>
              </a:defRPr>
            </a:pPr>
            <a:r>
              <a:t>The 4-Way Inventory Intelligence Equation: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</a:defRPr>
            </a:pPr>
            <a:r>
              <a:t>1. Supplier Invoice OCR → Captures incoming wholesale quantities &amp; cost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</a:defRPr>
            </a:pPr>
            <a:r>
              <a:t>2. Shelf Photo AI (YOLO) → Detects facing depth &amp; empty frontages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</a:defRPr>
            </a:pPr>
            <a:r>
              <a:t>3. Demand Forecasting → Projects consumption rate against local events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</a:defRPr>
            </a:pPr>
            <a:r>
              <a:t>4. Merchant Feedback Loop → 1-tap WhatsApp confirms estimate accuracy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2194560"/>
            <a:ext cx="484632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77FB"/>
                </a:solidFill>
              </a:defRPr>
            </a:pPr>
            <a:r>
              <a:t>🍜 LIVE KIRANA SCENARIO</a:t>
            </a:r>
          </a:p>
          <a:p>
            <a:pPr>
              <a:spcBef>
                <a:spcPts val="1200"/>
              </a:spcBef>
              <a:defRPr sz="1400" b="1">
                <a:solidFill>
                  <a:srgbClr val="0F172A"/>
                </a:solidFill>
              </a:defRPr>
            </a:pPr>
            <a:r>
              <a:t>Item: Maggi 2-Minute Noodles (70g)</a:t>
            </a:r>
            <a:br/>
            <a:r>
              <a:t>Estimated Remaining: 26 packets (Critically Low)</a:t>
            </a:r>
          </a:p>
          <a:p>
            <a:pPr>
              <a:spcBef>
                <a:spcPts val="1400"/>
              </a:spcBef>
              <a:defRPr sz="1300" b="1">
                <a:solidFill>
                  <a:srgbClr val="002970"/>
                </a:solidFill>
              </a:defRPr>
            </a:pPr>
            <a:r>
              <a:t>AI Recommendation:</a:t>
            </a:r>
            <a:br/>
            <a:r>
              <a:t>'Order 2 cartons (48 pkts) from Gupta Wholesale by 11 AM to prevent tomorrow's weekend evening stockout.'</a:t>
            </a:r>
          </a:p>
          <a:p>
            <a:pPr>
              <a:spcBef>
                <a:spcPts val="1400"/>
              </a:spcBef>
              <a:defRPr sz="1100">
                <a:solidFill>
                  <a:srgbClr val="00C48C"/>
                </a:solidFill>
              </a:defRPr>
            </a:pPr>
            <a:r>
              <a:t>• Run-rate: 18 pkts/day  • Lead time: 24h  • Saved: ₹1,400 Lost Sales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438912"/>
            <a:ext cx="128016" cy="128016"/>
          </a:xfrm>
          <a:prstGeom prst="ellipse">
            <a:avLst/>
          </a:prstGeom>
          <a:solidFill>
            <a:srgbClr val="0077FB"/>
          </a:solidFill>
          <a:ln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474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Paytm Merchant Growth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347472"/>
            <a:ext cx="3017520" cy="320040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77FB"/>
                </a:solidFill>
              </a:defRPr>
            </a:pPr>
            <a:r>
              <a:t>PAYTM BUILD FOR INDIA • AI HACKATHON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7FB"/>
                </a:solidFill>
              </a:defRPr>
            </a:pPr>
            <a:r>
              <a:t>PAGE 09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63093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The AI Teammate That Runs Alongside Every Merchant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686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77FB"/>
                </a:solidFill>
              </a:defRPr>
            </a:pPr>
            <a:r>
              <a:t>●  FRICTIONLESS UX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430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Built For How Merchants Already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Merchants check WhatsApp 40+ times daily.</a:t>
            </a:r>
            <a:br/>
            <a:r>
              <a:t>We deliver high-signal intelligence directly to their primary chat.</a:t>
            </a:r>
          </a:p>
          <a:p>
            <a:pPr>
              <a:spcBef>
                <a:spcPts val="1600"/>
              </a:spcBef>
              <a:defRPr sz="1400" b="1">
                <a:solidFill>
                  <a:srgbClr val="0077FB"/>
                </a:solidFill>
              </a:defRPr>
            </a:pPr>
            <a:r>
              <a:t>🌅 8:00 AM Morning Briefing:</a:t>
            </a:r>
            <a:br/>
            <a:r>
              <a:t>Yesterday's revenue, today's footfall forecast &amp; urgent POs.</a:t>
            </a:r>
          </a:p>
          <a:p>
            <a:pPr>
              <a:spcBef>
                <a:spcPts val="1600"/>
              </a:spcBef>
              <a:defRPr sz="1400" b="1">
                <a:solidFill>
                  <a:srgbClr val="00C48C"/>
                </a:solidFill>
              </a:defRPr>
            </a:pPr>
            <a:r>
              <a:t>⚡ 1-Click Interactive Approvals:</a:t>
            </a:r>
            <a:br/>
            <a:r>
              <a:t>Tap 'Approve' to trigger orders or promos with zero app switching.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2011680"/>
            <a:ext cx="4572000" cy="4114800"/>
          </a:xfrm>
          <a:prstGeom prst="roundRect">
            <a:avLst/>
          </a:prstGeom>
          <a:solidFill>
            <a:srgbClr val="EFEAE2"/>
          </a:solidFill>
          <a:ln w="38100">
            <a:solidFill>
              <a:srgbClr val="075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75E54"/>
                </a:solidFill>
              </a:defRPr>
            </a:pPr>
            <a:r>
              <a:t>💬 Paytm Growth Agent (WhatsApp)</a:t>
            </a:r>
          </a:p>
          <a:p>
            <a:pPr>
              <a:spcBef>
                <a:spcPts val="800"/>
              </a:spcBef>
              <a:defRPr sz="1200">
                <a:solidFill>
                  <a:srgbClr val="111827"/>
                </a:solidFill>
              </a:defRPr>
            </a:pPr>
            <a:r>
              <a:t>Good Morning Ramesh Ji! 🌅</a:t>
            </a:r>
            <a:br/>
            <a:br/>
            <a:r>
              <a:t>• Yesterday Revenue: ₹17,500</a:t>
            </a:r>
            <a:br/>
            <a:r>
              <a:t>• Today Forecast: ₹19,200 (+10%)</a:t>
            </a:r>
            <a:br/>
            <a:r>
              <a:t>• Peak Hour: 6:00 PM – 8:00 PM</a:t>
            </a:r>
            <a:br/>
            <a:br/>
            <a:r>
              <a:t>⚠️ Inventory Alert: Maggi Stock Low (26 pkts remaining)</a:t>
            </a:r>
            <a:br/>
            <a:r>
              <a:t>Action: Order 3 cartons from Gupta Wholesale.</a:t>
            </a:r>
          </a:p>
          <a:p>
            <a:pPr>
              <a:spcBef>
                <a:spcPts val="1200"/>
              </a:spcBef>
              <a:defRPr sz="1100" b="1">
                <a:solidFill>
                  <a:srgbClr val="15803D"/>
                </a:solidFill>
              </a:defRPr>
            </a:pPr>
            <a:r>
              <a:t>[ ✅ APPROVED: Purchase Order Dispatched via WhatsApp 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438912"/>
            <a:ext cx="128016" cy="128016"/>
          </a:xfrm>
          <a:prstGeom prst="ellipse">
            <a:avLst/>
          </a:prstGeom>
          <a:solidFill>
            <a:srgbClr val="0077FB"/>
          </a:solidFill>
          <a:ln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474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Paytm Merchant Growth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347472"/>
            <a:ext cx="3017520" cy="320040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77FB"/>
                </a:solidFill>
              </a:defRPr>
            </a:pPr>
            <a:r>
              <a:t>PAYTM BUILD FOR INDIA • AI HACKATHON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7FB"/>
                </a:solidFill>
              </a:defRPr>
            </a:pPr>
            <a:r>
              <a:t>PAGE 10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63093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The AI Teammate That Runs Alongside Every Merchant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686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77FB"/>
                </a:solidFill>
              </a:defRPr>
            </a:pPr>
            <a:r>
              <a:t>●  VERNACULAR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430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Speak. Don't Type. 100% Vernacular Voice Interaction.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94560"/>
            <a:ext cx="530352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77FB"/>
                </a:solidFill>
              </a:defRPr>
            </a:pPr>
            <a:r>
              <a:t>🎙️ LIVE VOICE DIALOGUE (&lt; 400ms Latency)</a:t>
            </a:r>
          </a:p>
          <a:p>
            <a:pPr>
              <a:spcBef>
                <a:spcPts val="1200"/>
              </a:spcBef>
              <a:defRPr sz="1300" b="1">
                <a:solidFill>
                  <a:srgbClr val="0F172A"/>
                </a:solidFill>
              </a:defRPr>
            </a:pPr>
            <a:r>
              <a:t>Merchant (Hindi Audio):</a:t>
            </a:r>
            <a:br/>
            <a:r>
              <a:t>"आज दुकान के लिए क्या मंगवाना चाहिए?"</a:t>
            </a:r>
            <a:br/>
            <a:r>
              <a:t>("What should I order for the shop today?")</a:t>
            </a:r>
          </a:p>
          <a:p>
            <a:pPr>
              <a:spcBef>
                <a:spcPts val="1400"/>
              </a:spcBef>
              <a:defRPr sz="1250" b="1">
                <a:solidFill>
                  <a:srgbClr val="002970"/>
                </a:solidFill>
              </a:defRPr>
            </a:pPr>
            <a:r>
              <a:t>Paytm Growth Agent (Audio Reply):</a:t>
            </a:r>
            <a:br/>
            <a:r>
              <a:t>"आज तापमान 42°C होने से कोल्ड ड्रिंक की मांग 20% बढ़ेगी। थम्स-अप और स्प्राइट के 2 क्रेट ज्यादा मंगवाना सही रहेगा।"</a:t>
            </a:r>
            <a:br/>
            <a:r>
              <a:t>("Temp hitting 42°C will boost cold drink demand by 20%. Ordering 2 extra crates recommended.")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19456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Multilingual Coverage for India's Diversity: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</a:defRPr>
            </a:pPr>
            <a:r>
              <a:t>• 🇮🇳 Hindi (हिन्दी) - Native dialect parsing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</a:defRPr>
            </a:pPr>
            <a:r>
              <a:t>• 🇮🇳 Tamil (தமிழ்) - South India retail terminology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</a:defRPr>
            </a:pPr>
            <a:r>
              <a:t>• 🇮🇳 Punjabi (ਪੰਜਾਬੀ) - Northern agricultural/mandi flows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</a:defRPr>
            </a:pPr>
            <a:r>
              <a:t>• 🇮🇳 Marathi (मराठी) - Maharashtra kirana support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</a:defRPr>
            </a:pPr>
            <a:r>
              <a:t>• 🇮🇳 Bengali (বাংলা) - Eastern FMCG trade vocabulary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</a:defRPr>
            </a:pPr>
            <a:r>
              <a:t>• 🇮🇳 Telugu &amp; Kannada - Expanding regional coverage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438912"/>
            <a:ext cx="128016" cy="128016"/>
          </a:xfrm>
          <a:prstGeom prst="ellipse">
            <a:avLst/>
          </a:prstGeom>
          <a:solidFill>
            <a:srgbClr val="0077FB"/>
          </a:solidFill>
          <a:ln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474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Paytm Merchant Growth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347472"/>
            <a:ext cx="3017520" cy="320040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77FB"/>
                </a:solidFill>
              </a:defRPr>
            </a:pPr>
            <a:r>
              <a:t>PAYTM BUILD FOR INDIA • AI HACKATHON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7FB"/>
                </a:solidFill>
              </a:defRPr>
            </a:pPr>
            <a:r>
              <a:t>PAGE 11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63093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The AI Teammate That Runs Alongside Every Merchant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686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77FB"/>
                </a:solidFill>
              </a:defRPr>
            </a:pPr>
            <a:r>
              <a:t>●  PREDICTIVE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430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Predict Tomorrow Before It Happens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94560"/>
            <a:ext cx="512064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77FB"/>
                </a:solidFill>
              </a:defRPr>
            </a:pPr>
            <a:r>
              <a:t>📥 MULTIVARIATE INPUT SIGNALS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✔ Historical UPI Sales: Seasonal hourly baselines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✔ Weather Forecasts: Temperature, rain &amp; heatwaves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✔ Festival Calendars: Diwali, Eid, Holi demand spikes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✔ IPL &amp; Cricket Matches: Evening beverage &amp; snack surges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✔ Local Events &amp; Traffic: Street closures &amp; crowd flows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194560"/>
            <a:ext cx="5212080" cy="3657600"/>
          </a:xfrm>
          <a:prstGeom prst="roundRect">
            <a:avLst/>
          </a:prstGeom>
          <a:solidFill>
            <a:srgbClr val="F0F7FF"/>
          </a:solidFill>
          <a:ln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2970"/>
                </a:solidFill>
              </a:defRPr>
            </a:pPr>
            <a:r>
              <a:t>🎯 ACCURATE ACTIONABLE PREDICTIONS</a:t>
            </a:r>
          </a:p>
          <a:p>
            <a:pPr>
              <a:spcBef>
                <a:spcPts val="1000"/>
              </a:spcBef>
              <a:defRPr sz="1300" b="1">
                <a:solidFill>
                  <a:srgbClr val="0077FB"/>
                </a:solidFill>
              </a:defRPr>
            </a:pPr>
            <a:r>
              <a:t>• Expected Revenue Curve: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  ₹19,200 estimated (+10% vs average weekday)</a:t>
            </a:r>
          </a:p>
          <a:p>
            <a:pPr>
              <a:spcBef>
                <a:spcPts val="1000"/>
              </a:spcBef>
              <a:defRPr sz="1300" b="1">
                <a:solidFill>
                  <a:srgbClr val="0077FB"/>
                </a:solidFill>
              </a:defRPr>
            </a:pPr>
            <a:r>
              <a:t>• Hourly Footfall Heatmap: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  Peak rush: 6:00 PM – 8:30 PM (IPL match start)</a:t>
            </a:r>
          </a:p>
          <a:p>
            <a:pPr>
              <a:spcBef>
                <a:spcPts val="1000"/>
              </a:spcBef>
              <a:defRPr sz="1300" b="1">
                <a:solidFill>
                  <a:srgbClr val="0077FB"/>
                </a:solidFill>
              </a:defRPr>
            </a:pPr>
            <a:r>
              <a:t>• Item Replenishment List: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  15 crates soft drinks + 25 chips cartons required</a:t>
            </a:r>
          </a:p>
          <a:p>
            <a:pPr>
              <a:spcBef>
                <a:spcPts val="1000"/>
              </a:spcBef>
              <a:defRPr sz="1300" b="1">
                <a:solidFill>
                  <a:srgbClr val="0077FB"/>
                </a:solidFill>
              </a:defRPr>
            </a:pPr>
            <a:r>
              <a:t>• Model Performance: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  93.4% accuracy powered by LightGBM + Prophet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438912"/>
            <a:ext cx="128016" cy="128016"/>
          </a:xfrm>
          <a:prstGeom prst="ellipse">
            <a:avLst/>
          </a:prstGeom>
          <a:solidFill>
            <a:srgbClr val="0077FB"/>
          </a:solidFill>
          <a:ln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474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Paytm Merchant Growth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347472"/>
            <a:ext cx="3017520" cy="320040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77FB"/>
                </a:solidFill>
              </a:defRPr>
            </a:pPr>
            <a:r>
              <a:t>PAYTM BUILD FOR INDIA • AI HACKATHON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7FB"/>
                </a:solidFill>
              </a:defRPr>
            </a:pPr>
            <a:r>
              <a:t>PAGE 12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63093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The AI Teammate That Runs Alongside Every Merchant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686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77FB"/>
                </a:solidFill>
              </a:defRPr>
            </a:pPr>
            <a:r>
              <a:t>●  PROPRIETARY METRIC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430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Merchant Health Score: CIBIL for Small Businesses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94560"/>
            <a:ext cx="365760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77FB"/>
                </a:solidFill>
              </a:defRPr>
            </a:pPr>
            <a:r>
              <a:t>HEALTH SCORE</a:t>
            </a:r>
          </a:p>
          <a:p>
            <a:pPr algn="ctr">
              <a:defRPr sz="6400" b="1">
                <a:solidFill>
                  <a:srgbClr val="0077FB"/>
                </a:solidFill>
              </a:defRPr>
            </a:pPr>
            <a:r>
              <a:t>82</a:t>
            </a:r>
          </a:p>
          <a:p>
            <a:pPr algn="ctr">
              <a:defRPr sz="1200" b="1">
                <a:solidFill>
                  <a:srgbClr val="00C48C"/>
                </a:solidFill>
              </a:defRPr>
            </a:pPr>
            <a:r>
              <a:t>OUT OF 100 • EXCELLENT</a:t>
            </a:r>
          </a:p>
          <a:p>
            <a:pPr algn="ctr">
              <a:spcBef>
                <a:spcPts val="1600"/>
              </a:spcBef>
              <a:defRPr sz="1100">
                <a:solidFill>
                  <a:srgbClr val="64748B"/>
                </a:solidFill>
              </a:defRPr>
            </a:pPr>
            <a:r>
              <a:t>Unlocks instant, pre-approved working capital loans with zero collateral.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2194560"/>
            <a:ext cx="667512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2970"/>
                </a:solidFill>
              </a:defRPr>
            </a:pPr>
            <a:r>
              <a:t>5 WEIGHTED SCORE PILLARS</a:t>
            </a:r>
          </a:p>
          <a:p>
            <a:pPr>
              <a:spcBef>
                <a:spcPts val="800"/>
              </a:spcBef>
              <a:defRPr sz="1250">
                <a:solidFill>
                  <a:srgbClr val="0F172A"/>
                </a:solidFill>
              </a:defRPr>
            </a:pPr>
            <a:r>
              <a:t>• Revenue Growth Trend [88/100]: Consistent week-on-week expansion</a:t>
            </a:r>
          </a:p>
          <a:p>
            <a:pPr>
              <a:spcBef>
                <a:spcPts val="800"/>
              </a:spcBef>
              <a:defRPr sz="1250">
                <a:solidFill>
                  <a:srgbClr val="0F172A"/>
                </a:solidFill>
              </a:defRPr>
            </a:pPr>
            <a:r>
              <a:t>• Inventory Health &amp; Turn-rate [76/100]: Low dead stock, minimal stockout days</a:t>
            </a:r>
          </a:p>
          <a:p>
            <a:pPr>
              <a:spcBef>
                <a:spcPts val="800"/>
              </a:spcBef>
              <a:defRPr sz="1250">
                <a:solidFill>
                  <a:srgbClr val="0F172A"/>
                </a:solidFill>
              </a:defRPr>
            </a:pPr>
            <a:r>
              <a:t>• Customer Retention Rate [84/100]: High proportion of returning UPI shoppers</a:t>
            </a:r>
          </a:p>
          <a:p>
            <a:pPr>
              <a:spcBef>
                <a:spcPts val="800"/>
              </a:spcBef>
              <a:defRPr sz="1250">
                <a:solidFill>
                  <a:srgbClr val="0F172A"/>
                </a:solidFill>
              </a:defRPr>
            </a:pPr>
            <a:r>
              <a:t>• UPI Transaction Consistency [90/100]: Predictable daily payment cadence</a:t>
            </a:r>
          </a:p>
          <a:p>
            <a:pPr>
              <a:spcBef>
                <a:spcPts val="800"/>
              </a:spcBef>
              <a:defRPr sz="1250">
                <a:solidFill>
                  <a:srgbClr val="0F172A"/>
                </a:solidFill>
              </a:defRPr>
            </a:pPr>
            <a:r>
              <a:t>• Business Stability &amp; Margin [72/100]: Healthy buffer against supply shocks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438912"/>
            <a:ext cx="128016" cy="128016"/>
          </a:xfrm>
          <a:prstGeom prst="ellipse">
            <a:avLst/>
          </a:prstGeom>
          <a:solidFill>
            <a:srgbClr val="0077FB"/>
          </a:solidFill>
          <a:ln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474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Paytm Merchant Growth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347472"/>
            <a:ext cx="3017520" cy="320040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77FB"/>
                </a:solidFill>
              </a:defRPr>
            </a:pPr>
            <a:r>
              <a:t>PAYTM BUILD FOR INDIA • AI HACKATHON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7FB"/>
                </a:solidFill>
              </a:defRPr>
            </a:pPr>
            <a:r>
              <a:t>PAGE 13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63093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The AI Teammate That Runs Alongside Every Merchant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686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77FB"/>
                </a:solidFill>
              </a:defRPr>
            </a:pPr>
            <a:r>
              <a:t>●  REVENUE LEAKAGE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430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Identify Hidden Revenue Leakage Before It Compounds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94560"/>
            <a:ext cx="33832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77FB"/>
                </a:solidFill>
              </a:defRPr>
            </a:pPr>
            <a:r>
              <a:t>EXPECTED REVENUE</a:t>
            </a:r>
          </a:p>
          <a:p>
            <a:pPr>
              <a:defRPr sz="2800" b="1">
                <a:solidFill>
                  <a:srgbClr val="0F172A"/>
                </a:solidFill>
              </a:defRPr>
            </a:pPr>
            <a:r>
              <a:t>₹18,000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AI Friday Baseline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194560"/>
            <a:ext cx="33832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ACTUAL REVENUE</a:t>
            </a:r>
          </a:p>
          <a:p>
            <a:pPr>
              <a:defRPr sz="2800" b="1">
                <a:solidFill>
                  <a:srgbClr val="0F172A"/>
                </a:solidFill>
              </a:defRPr>
            </a:pPr>
            <a:r>
              <a:t>₹12,000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Settled UPI Amount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194560"/>
            <a:ext cx="33832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F4444"/>
                </a:solidFill>
              </a:defRPr>
            </a:pPr>
            <a:r>
              <a:t>LOST OPPORTUNITY</a:t>
            </a:r>
          </a:p>
          <a:p>
            <a:pPr>
              <a:defRPr sz="2800" b="1">
                <a:solidFill>
                  <a:srgbClr val="0F172A"/>
                </a:solidFill>
              </a:defRPr>
            </a:pPr>
            <a:r>
              <a:t>-₹6,000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Detected Revenue Leakage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10698480" cy="1737360"/>
          </a:xfrm>
          <a:prstGeom prst="roundRect">
            <a:avLst/>
          </a:prstGeom>
          <a:solidFill>
            <a:srgbClr val="FEF2F2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F4444"/>
                </a:solidFill>
              </a:defRPr>
            </a:pPr>
            <a:r>
              <a:t>🔍 AI ROOT CAUSE DIAGNOSIS &amp; RECOVERY ACTION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• 4:30 PM: Cold drinks and ice cream ran out of stock right as afternoon temperature reached 41°C. (Est. loss: ₹3,800)</a:t>
            </a:r>
            <a:br/>
            <a:r>
              <a:t>• 7:00 PM: UPI transaction drop correlated with sudden 30-min rain spell; zero delivery backup. (Est. loss: ₹2,200)</a:t>
            </a:r>
            <a:br/>
            <a:r>
              <a:t>✔ AI Recovery: Pre-orders inventory 12h prior to prevent recurring ₹6,000 weekly loss.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438912"/>
            <a:ext cx="128016" cy="128016"/>
          </a:xfrm>
          <a:prstGeom prst="ellipse">
            <a:avLst/>
          </a:prstGeom>
          <a:solidFill>
            <a:srgbClr val="0077FB"/>
          </a:solidFill>
          <a:ln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474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Paytm Merchant Growth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347472"/>
            <a:ext cx="3017520" cy="320040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77FB"/>
                </a:solidFill>
              </a:defRPr>
            </a:pPr>
            <a:r>
              <a:t>PAYTM BUILD FOR INDIA • AI HACKATHON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7FB"/>
                </a:solidFill>
              </a:defRPr>
            </a:pPr>
            <a:r>
              <a:t>PAGE 14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63093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The AI Teammate That Runs Alongside Every Merchant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686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77FB"/>
                </a:solidFill>
              </a:defRPr>
            </a:pPr>
            <a:r>
              <a:t>●  AGENTIC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430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True Agentic AI: The AI Does Not Just Advise. It Acts.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77440"/>
            <a:ext cx="201168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F4444"/>
                </a:solidFill>
              </a:defRPr>
            </a:pPr>
            <a:r>
              <a:t>STAGE 01</a:t>
            </a:r>
          </a:p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</a:defRPr>
            </a:pPr>
            <a:r>
              <a:t>Sales Drop Detected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BI Agent detects 25% footfall dip during 3 PM lull.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2377440"/>
            <a:ext cx="201168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77FB"/>
                </a:solidFill>
              </a:defRPr>
            </a:pPr>
            <a:r>
              <a:t>STAGE 02</a:t>
            </a:r>
          </a:p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</a:defRPr>
            </a:pPr>
            <a:r>
              <a:t>AI Drafts Campaign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Crafts 5% cash-back promo on ₹200+ snacks basket.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2377440"/>
            <a:ext cx="201168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77FB"/>
                </a:solidFill>
              </a:defRPr>
            </a:pPr>
            <a:r>
              <a:t>STAGE 03</a:t>
            </a:r>
          </a:p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</a:defRPr>
            </a:pPr>
            <a:r>
              <a:t>Merchant Approves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1-tap WhatsApp prompt approval in under 5 seconds.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199" y="2377440"/>
            <a:ext cx="201168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8B5CF6"/>
                </a:solidFill>
              </a:defRPr>
            </a:pPr>
            <a:r>
              <a:t>STAGE 04</a:t>
            </a:r>
          </a:p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</a:defRPr>
            </a:pPr>
            <a:r>
              <a:t>Campaign Deployed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Dispatched to nearby Paytm app users within 500m.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09760" y="2377440"/>
            <a:ext cx="201168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C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C48C"/>
                </a:solidFill>
              </a:defRPr>
            </a:pPr>
            <a:r>
              <a:t>STAGE 05</a:t>
            </a:r>
          </a:p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</a:defRPr>
            </a:pPr>
            <a:r>
              <a:t>Revenue Surges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+₹2,400 incremental sales achieved in 90 minutes.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438912"/>
            <a:ext cx="128016" cy="128016"/>
          </a:xfrm>
          <a:prstGeom prst="ellipse">
            <a:avLst/>
          </a:prstGeom>
          <a:solidFill>
            <a:srgbClr val="0077FB"/>
          </a:solidFill>
          <a:ln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474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Paytm Merchant Growth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347472"/>
            <a:ext cx="301752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PAYTM BUILD FOR INDIA • AI HACKATHON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7FB"/>
                </a:solidFill>
              </a:defRPr>
            </a:pPr>
            <a:r>
              <a:t>PAGE 15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63093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The AI Teammate That Runs Alongside Every Merchant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686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77FB"/>
                </a:solidFill>
              </a:defRPr>
            </a:pPr>
            <a:r>
              <a:t>●  SYSTEM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430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Enterprise-Grade Multi-Agent Infrastructure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011680"/>
            <a:ext cx="10698480" cy="685800"/>
          </a:xfrm>
          <a:prstGeom prst="roundRect">
            <a:avLst/>
          </a:prstGeom>
          <a:solidFill>
            <a:srgbClr val="182030"/>
          </a:solidFill>
          <a:ln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DATA SOURCES LAYER  ──  Paytm UPI Stream (Kafka)  |  DocAI Bill OCR  |  Shelf Vision  |  Weather &amp; Event APIs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834640"/>
            <a:ext cx="10698480" cy="685800"/>
          </a:xfrm>
          <a:prstGeom prst="roundRect">
            <a:avLst/>
          </a:prstGeom>
          <a:solidFill>
            <a:srgbClr val="182030"/>
          </a:solidFill>
          <a:ln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DATA LAKEHOUSE  ──  PostgreSQL (Transactions)  |  MongoDB (Invoices)  |  Vector Store  |  Redis Session Cache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657600"/>
            <a:ext cx="10698480" cy="685800"/>
          </a:xfrm>
          <a:prstGeom prst="roundRect">
            <a:avLst/>
          </a:prstGeom>
          <a:solidFill>
            <a:srgbClr val="0077FB"/>
          </a:solidFill>
          <a:ln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⚡ LANGGRAPH AGENT CORE  ──  Deterministic StateGraph  |  7 Swarm Agents  |  State Checkpointing  |  Safety Guardrails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80560"/>
            <a:ext cx="10698480" cy="685800"/>
          </a:xfrm>
          <a:prstGeom prst="roundRect">
            <a:avLst/>
          </a:prstGeom>
          <a:solidFill>
            <a:srgbClr val="182030"/>
          </a:solidFill>
          <a:ln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LLM &amp; PERCEPTION TIER  ──  DeepSeek / GPT-4o Mini  |  Qwen 2.5 (Vernacular)  |  LightGBM Forecast  |  YOLOv10 Vision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03520"/>
            <a:ext cx="10698480" cy="685800"/>
          </a:xfrm>
          <a:prstGeom prst="roundRect">
            <a:avLst/>
          </a:prstGeom>
          <a:solidFill>
            <a:srgbClr val="182030"/>
          </a:solidFill>
          <a:ln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DELIVERY INTERFACES  ──  WhatsApp Cloud API  |  Paytm Merchant App SDK  |  Vernacular AI Audio Calling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438912"/>
            <a:ext cx="128016" cy="128016"/>
          </a:xfrm>
          <a:prstGeom prst="ellipse">
            <a:avLst/>
          </a:prstGeom>
          <a:solidFill>
            <a:srgbClr val="0077FB"/>
          </a:solidFill>
          <a:ln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474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Paytm Merchant Growth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347472"/>
            <a:ext cx="3017520" cy="320040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77FB"/>
                </a:solidFill>
              </a:defRPr>
            </a:pPr>
            <a:r>
              <a:t>PAYTM BUILD FOR INDIA • AI HACKATHON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7FB"/>
                </a:solidFill>
              </a:defRPr>
            </a:pPr>
            <a:r>
              <a:t>PAGE 16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63093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The AI Teammate That Runs Alongside Every Merchant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686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77FB"/>
                </a:solidFill>
              </a:defRPr>
            </a:pPr>
            <a:r>
              <a:t>●  ENGINEERING SPECIFICATIONS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430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Built with Modern, Battle-Tested Frameworks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94560"/>
            <a:ext cx="25146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77FB"/>
                </a:solidFill>
              </a:defRPr>
            </a:pPr>
            <a:r>
              <a:t>BACKEND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</a:defRPr>
            </a:pPr>
            <a:r>
              <a:t>FastAPI &amp; Node.js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Asynchronous microservices &amp; Celery queues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2194560"/>
            <a:ext cx="25146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77FB"/>
                </a:solidFill>
              </a:defRPr>
            </a:pPr>
            <a:r>
              <a:t>DATABASES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</a:defRPr>
            </a:pPr>
            <a:r>
              <a:t>PostgreSQL &amp; Mongo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ACID transactions &amp; flexible invoice storage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194560"/>
            <a:ext cx="25146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77FB"/>
                </a:solidFill>
              </a:defRPr>
            </a:pPr>
            <a:r>
              <a:t>AGENT CORE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</a:defRPr>
            </a:pPr>
            <a:r>
              <a:t>LangGraph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Stateful deterministic multi-agent graphs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2194560"/>
            <a:ext cx="25146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77FB"/>
                </a:solidFill>
              </a:defRPr>
            </a:pPr>
            <a:r>
              <a:t>LLM MODELS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</a:defRPr>
            </a:pPr>
            <a:r>
              <a:t>GPT-4o &amp; Qwen 2.5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High-speed reasoning &amp; Indian vernacular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14800"/>
            <a:ext cx="25146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00C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C48C"/>
                </a:solidFill>
              </a:defRPr>
            </a:pPr>
            <a:r>
              <a:t>VISION / OCR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</a:defRPr>
            </a:pPr>
            <a:r>
              <a:t>YOLOv10 &amp; DocAI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Zero-shot invoice extraction &amp; shelf detection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4114800"/>
            <a:ext cx="25146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00C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C48C"/>
                </a:solidFill>
              </a:defRPr>
            </a:pPr>
            <a:r>
              <a:t>FORECASTING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</a:defRPr>
            </a:pPr>
            <a:r>
              <a:t>LightGBM &amp; Prophet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Gradient boosted multivariate time-series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4114800"/>
            <a:ext cx="25146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00C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C48C"/>
                </a:solidFill>
              </a:defRPr>
            </a:pPr>
            <a:r>
              <a:t>CHANNELS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</a:defRPr>
            </a:pPr>
            <a:r>
              <a:t>WhatsApp Cloud API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Direct merchant engagement with 99.99% SLA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4114800"/>
            <a:ext cx="25146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00C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C48C"/>
                </a:solidFill>
              </a:defRPr>
            </a:pPr>
            <a:r>
              <a:t>CLOUD INFRA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</a:defRPr>
            </a:pPr>
            <a:r>
              <a:t>AWS ECS &amp; Docker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RBI-compliant secure localized deployment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438912"/>
            <a:ext cx="128016" cy="128016"/>
          </a:xfrm>
          <a:prstGeom prst="ellipse">
            <a:avLst/>
          </a:prstGeom>
          <a:solidFill>
            <a:srgbClr val="0077FB"/>
          </a:solidFill>
          <a:ln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474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Paytm Merchant Growth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347472"/>
            <a:ext cx="3017520" cy="320040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77FB"/>
                </a:solidFill>
              </a:defRPr>
            </a:pPr>
            <a:r>
              <a:t>PAYTM BUILD FOR INDIA • AI HACKATHON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7FB"/>
                </a:solidFill>
              </a:defRPr>
            </a:pPr>
            <a:r>
              <a:t>PAGE 17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63093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The AI Teammate That Runs Alongside Every Merchant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686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77FB"/>
                </a:solidFill>
              </a:defRPr>
            </a:pPr>
            <a:r>
              <a:t>●  MASSIVE DISTRIBUTION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430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Built to Scale to 10M+ Indian Merchants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94560"/>
            <a:ext cx="10698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77FB"/>
                </a:solidFill>
              </a:defRPr>
            </a:pPr>
            <a:r>
              <a:t>1 Pilot Store   →   1,000 Noida Cluster   →   100,000 Metro Launch   →   10,000,000+ Pan-India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74720"/>
            <a:ext cx="338328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No New App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Lives inside WhatsApp and Paytm for Business already installed on 30M+ merchant devices.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474720"/>
            <a:ext cx="338328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No Hardware Costs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Zero barcode scanners or POS terminals. Uses smartphone camera and existing Soundbox.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3474720"/>
            <a:ext cx="338328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Zero Merchant Training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Intuitive WhatsApp prompts and vernacular voice notes match natural human habits.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438912"/>
            <a:ext cx="128016" cy="128016"/>
          </a:xfrm>
          <a:prstGeom prst="ellipse">
            <a:avLst/>
          </a:prstGeom>
          <a:solidFill>
            <a:srgbClr val="0077FB"/>
          </a:solidFill>
          <a:ln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474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Paytm Merchant Growth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347472"/>
            <a:ext cx="3017520" cy="320040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77FB"/>
                </a:solidFill>
              </a:defRPr>
            </a:pPr>
            <a:r>
              <a:t>PAYTM BUILD FOR INDIA • AI HACKATHON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7FB"/>
                </a:solidFill>
              </a:defRPr>
            </a:pPr>
            <a:r>
              <a:t>PAGE 18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63093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The AI Teammate That Runs Alongside Every Merchant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686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77FB"/>
                </a:solidFill>
              </a:defRPr>
            </a:pPr>
            <a:r>
              <a:t>●  ROI &amp; ECOSYSTEM MOAT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430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Transformative ROI for Merchants &amp; Strategic Moat for Paytm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94560"/>
            <a:ext cx="512064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C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C48C"/>
                </a:solidFill>
              </a:defRPr>
            </a:pPr>
            <a:r>
              <a:t>FOR MERCHANTS (THE PROMISE)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• +18% Revenue Growth: From automated cross-sells &amp; demand capture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• -45% Stock-Out Reduction: Eliminating missed sales on fast-moving items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• +25% Customer Retention: Smart automated loyalty &amp; cashback triggers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• Peace of Mind: Proactive inventory &amp; daily financial clarity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194560"/>
            <a:ext cx="521208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77FB"/>
                </a:solidFill>
              </a:defRPr>
            </a:pPr>
            <a:r>
              <a:t>FOR PAYTM (THE MOAT)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• +35% Merchant App DAU: Daily active engagement via daily morning brief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• 3x QR &amp; Soundbox Retention: Immense switching cost against PhonePe/GPay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• New SaaS &amp; Fintech Revenue: AI subscriptions &amp; loan origination fees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• Unmatched Data Flywheel: India's deepest localized retail demand dataset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438912"/>
            <a:ext cx="128016" cy="128016"/>
          </a:xfrm>
          <a:prstGeom prst="ellipse">
            <a:avLst/>
          </a:prstGeom>
          <a:solidFill>
            <a:srgbClr val="0077FB"/>
          </a:solidFill>
          <a:ln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474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Paytm Merchant Growth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347472"/>
            <a:ext cx="3017520" cy="320040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77FB"/>
                </a:solidFill>
              </a:defRPr>
            </a:pPr>
            <a:r>
              <a:t>PAYTM BUILD FOR INDIA • AI HACKATHON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7FB"/>
                </a:solidFill>
              </a:defRPr>
            </a:pPr>
            <a:r>
              <a:t>PAGE 19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63093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The AI Teammate That Runs Alongside Every Merchant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686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77FB"/>
                </a:solidFill>
              </a:defRPr>
            </a:pPr>
            <a:r>
              <a:t>●  EXECUTION 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430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5-Phase Evolution Plan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77440"/>
            <a:ext cx="201168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77FB"/>
                </a:solidFill>
              </a:defRPr>
            </a:pPr>
            <a:r>
              <a:t>Phase 1 (MVP)</a:t>
            </a:r>
          </a:p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</a:defRPr>
            </a:pPr>
            <a:r>
              <a:t>Merchant Insights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Daily settlement summaries &amp; UPI trend reports via WhatsApp.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2377440"/>
            <a:ext cx="201168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77FB"/>
                </a:solidFill>
              </a:defRPr>
            </a:pPr>
            <a:r>
              <a:t>Phase 2</a:t>
            </a:r>
          </a:p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</a:defRPr>
            </a:pPr>
            <a:r>
              <a:t>Predictive Engine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Footfall hourly forecast, weather alerts &amp; festival readiness.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2377440"/>
            <a:ext cx="201168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77FB"/>
                </a:solidFill>
              </a:defRPr>
            </a:pPr>
            <a:r>
              <a:t>Phase 3</a:t>
            </a:r>
          </a:p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</a:defRPr>
            </a:pPr>
            <a:r>
              <a:t>Inventory AI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Supplier invoice OCR + shelf image stock tracking &amp; PO generator.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199" y="2377440"/>
            <a:ext cx="201168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77FB"/>
                </a:solidFill>
              </a:defRPr>
            </a:pPr>
            <a:r>
              <a:t>Phase 4</a:t>
            </a:r>
          </a:p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</a:defRPr>
            </a:pPr>
            <a:r>
              <a:t>Campaign Runner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Automated hyperlocal Paytm app promos &amp; cashback blasts.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09760" y="2377440"/>
            <a:ext cx="201168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C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C48C"/>
                </a:solidFill>
              </a:defRPr>
            </a:pPr>
            <a:r>
              <a:t>Phase 5</a:t>
            </a:r>
          </a:p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</a:defRPr>
            </a:pPr>
            <a:r>
              <a:t>Autonomous Co-pilot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Fully autonomous business co-pilot managing procurement &amp; credit.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438912"/>
            <a:ext cx="128016" cy="128016"/>
          </a:xfrm>
          <a:prstGeom prst="ellipse">
            <a:avLst/>
          </a:prstGeom>
          <a:solidFill>
            <a:srgbClr val="0077FB"/>
          </a:solidFill>
          <a:ln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474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Paytm Merchant Growth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347472"/>
            <a:ext cx="301752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07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PAYTM BUILD FOR INDIA • AI HACKATHON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7FB"/>
                </a:solidFill>
              </a:defRPr>
            </a:pPr>
            <a:r>
              <a:t>PAGE 20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63093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The AI Teammate That Runs Alongside Every Merchant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645920"/>
            <a:ext cx="9418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FROM PAYMENTS TO GROWTH</a:t>
            </a:r>
          </a:p>
          <a:p>
            <a:pPr algn="ctr">
              <a:spcBef>
                <a:spcPts val="1400"/>
              </a:spcBef>
              <a:defRPr sz="4000" b="1">
                <a:solidFill>
                  <a:srgbClr val="FFFFFF"/>
                </a:solidFill>
              </a:defRPr>
            </a:pPr>
            <a:r>
              <a:t>Every Indian Merchant Deserves an</a:t>
            </a:r>
            <a:br/>
            <a:r>
              <a:t>AI Business Teammate.</a:t>
            </a:r>
          </a:p>
          <a:p>
            <a:pPr algn="ctr">
              <a:spcBef>
                <a:spcPts val="1600"/>
              </a:spcBef>
              <a:defRPr sz="1800">
                <a:solidFill>
                  <a:srgbClr val="94A3B8"/>
                </a:solidFill>
              </a:defRPr>
            </a:pPr>
            <a:r>
              <a:t>Paytm Merchant Growth Agent transforms payment data into everyday business growth.</a:t>
            </a:r>
          </a:p>
          <a:p>
            <a:pPr algn="ctr">
              <a:spcBef>
                <a:spcPts val="2400"/>
              </a:spcBef>
              <a:defRPr sz="1400" b="1">
                <a:solidFill>
                  <a:srgbClr val="FFFFFF"/>
                </a:solidFill>
              </a:defRPr>
            </a:pPr>
            <a:r>
              <a:t>OBSERVE → UNDERSTAND → PREDICT → RECOMMEND → EXECUTE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